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  <p:embeddedFont>
      <p:font typeface="JetBrains Mono ExtraBold"/>
      <p:bold r:id="rId18"/>
      <p:boldItalic r:id="rId19"/>
    </p:embeddedFont>
    <p:embeddedFont>
      <p:font typeface="JetBrains Mono SemiBold"/>
      <p:regular r:id="rId20"/>
      <p:bold r:id="rId21"/>
      <p:italic r:id="rId22"/>
      <p:boldItalic r:id="rId23"/>
    </p:embeddedFont>
    <p:embeddedFont>
      <p:font typeface="JetBrains Mono Medium"/>
      <p:regular r:id="rId24"/>
      <p:bold r:id="rId25"/>
      <p:italic r:id="rId26"/>
      <p:boldItalic r:id="rId27"/>
    </p:embeddedFont>
    <p:embeddedFont>
      <p:font typeface="IBM Plex Mono Light"/>
      <p:regular r:id="rId28"/>
      <p:bold r:id="rId29"/>
      <p:italic r:id="rId30"/>
      <p:boldItalic r:id="rId31"/>
    </p:embeddedFont>
    <p:embeddedFont>
      <p:font typeface="JetBrains Mono Light"/>
      <p:regular r:id="rId32"/>
      <p:bold r:id="rId33"/>
      <p:italic r:id="rId34"/>
      <p:boldItalic r:id="rId35"/>
    </p:embeddedFont>
    <p:embeddedFont>
      <p:font typeface="Epilogue"/>
      <p:regular r:id="rId36"/>
      <p:bold r:id="rId37"/>
      <p:italic r:id="rId38"/>
      <p:boldItalic r:id="rId39"/>
    </p:embeddedFont>
    <p:embeddedFont>
      <p:font typeface="PT Sans"/>
      <p:regular r:id="rId40"/>
      <p:bold r:id="rId41"/>
      <p:italic r:id="rId42"/>
      <p:boldItalic r:id="rId43"/>
    </p:embeddedFont>
    <p:embeddedFont>
      <p:font typeface="JetBrains Mono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regular.fntdata"/><Relationship Id="rId42" Type="http://schemas.openxmlformats.org/officeDocument/2006/relationships/font" Target="fonts/PTSans-italic.fntdata"/><Relationship Id="rId41" Type="http://schemas.openxmlformats.org/officeDocument/2006/relationships/font" Target="fonts/PTSans-bold.fntdata"/><Relationship Id="rId44" Type="http://schemas.openxmlformats.org/officeDocument/2006/relationships/font" Target="fonts/JetBrainsMono-regular.fntdata"/><Relationship Id="rId43" Type="http://schemas.openxmlformats.org/officeDocument/2006/relationships/font" Target="fonts/PTSans-boldItalic.fntdata"/><Relationship Id="rId46" Type="http://schemas.openxmlformats.org/officeDocument/2006/relationships/font" Target="fonts/JetBrainsMono-italic.fntdata"/><Relationship Id="rId45" Type="http://schemas.openxmlformats.org/officeDocument/2006/relationships/font" Target="fonts/JetBrains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penSans-regular.fntdata"/><Relationship Id="rId47" Type="http://schemas.openxmlformats.org/officeDocument/2006/relationships/font" Target="fonts/JetBrainsMono-boldItalic.fntdata"/><Relationship Id="rId49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MonoLight-boldItalic.fntdata"/><Relationship Id="rId30" Type="http://schemas.openxmlformats.org/officeDocument/2006/relationships/font" Target="fonts/IBMPlexMonoLight-italic.fntdata"/><Relationship Id="rId33" Type="http://schemas.openxmlformats.org/officeDocument/2006/relationships/font" Target="fonts/JetBrainsMonoLight-bold.fntdata"/><Relationship Id="rId32" Type="http://schemas.openxmlformats.org/officeDocument/2006/relationships/font" Target="fonts/JetBrainsMonoLight-regular.fntdata"/><Relationship Id="rId35" Type="http://schemas.openxmlformats.org/officeDocument/2006/relationships/font" Target="fonts/JetBrainsMonoLight-boldItalic.fntdata"/><Relationship Id="rId34" Type="http://schemas.openxmlformats.org/officeDocument/2006/relationships/font" Target="fonts/JetBrainsMonoLight-italic.fntdata"/><Relationship Id="rId37" Type="http://schemas.openxmlformats.org/officeDocument/2006/relationships/font" Target="fonts/Epilogue-bold.fntdata"/><Relationship Id="rId36" Type="http://schemas.openxmlformats.org/officeDocument/2006/relationships/font" Target="fonts/Epilogue-regular.fntdata"/><Relationship Id="rId39" Type="http://schemas.openxmlformats.org/officeDocument/2006/relationships/font" Target="fonts/Epilogue-boldItalic.fntdata"/><Relationship Id="rId38" Type="http://schemas.openxmlformats.org/officeDocument/2006/relationships/font" Target="fonts/Epilogue-italic.fntdata"/><Relationship Id="rId20" Type="http://schemas.openxmlformats.org/officeDocument/2006/relationships/font" Target="fonts/JetBrainsMonoSemiBold-regular.fntdata"/><Relationship Id="rId22" Type="http://schemas.openxmlformats.org/officeDocument/2006/relationships/font" Target="fonts/JetBrainsMonoSemiBold-italic.fntdata"/><Relationship Id="rId21" Type="http://schemas.openxmlformats.org/officeDocument/2006/relationships/font" Target="fonts/JetBrainsMonoSemiBold-bold.fntdata"/><Relationship Id="rId24" Type="http://schemas.openxmlformats.org/officeDocument/2006/relationships/font" Target="fonts/JetBrainsMonoMedium-regular.fntdata"/><Relationship Id="rId23" Type="http://schemas.openxmlformats.org/officeDocument/2006/relationships/font" Target="fonts/JetBrainsMonoSemiBold-boldItalic.fntdata"/><Relationship Id="rId26" Type="http://schemas.openxmlformats.org/officeDocument/2006/relationships/font" Target="fonts/JetBrainsMonoMedium-italic.fntdata"/><Relationship Id="rId25" Type="http://schemas.openxmlformats.org/officeDocument/2006/relationships/font" Target="fonts/JetBrainsMonoMedium-bold.fntdata"/><Relationship Id="rId28" Type="http://schemas.openxmlformats.org/officeDocument/2006/relationships/font" Target="fonts/IBMPlexMonoLight-regular.fntdata"/><Relationship Id="rId27" Type="http://schemas.openxmlformats.org/officeDocument/2006/relationships/font" Target="fonts/JetBrainsMonoMedium-boldItalic.fntdata"/><Relationship Id="rId29" Type="http://schemas.openxmlformats.org/officeDocument/2006/relationships/font" Target="fonts/IBMPlexMonoLight-bold.fntdata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JetBrainsMonoExtraBold-boldItalic.fntdata"/><Relationship Id="rId18" Type="http://schemas.openxmlformats.org/officeDocument/2006/relationships/font" Target="fonts/JetBrainsMono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h157595bdb612787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h157595bdb612787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h157595bdb612787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h157595bdb612787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h157595bdb612787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h157595bdb612787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5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5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5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9" name="Google Shape;139;p7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0" name="Google Shape;150;p8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" name="Google Shape;164;p11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9" name="Google Shape;249;p13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3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1" name="Google Shape;251;p13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2" name="Google Shape;252;p13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3" name="Google Shape;253;p13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1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" name="Google Shape;345;p14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46" name="Google Shape;346;p14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15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8" name="Google Shape;358;p1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16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16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6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1" name="Google Shape;401;p16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2" name="Google Shape;402;p16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6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1" name="Google Shape;501;p17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2" name="Google Shape;502;p17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3" name="Google Shape;503;p17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17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5" name="Google Shape;505;p17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6" name="Google Shape;506;p17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7" name="Google Shape;507;p17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8" name="Google Shape;508;p17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9" name="Google Shape;509;p1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18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18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18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1" name="Google Shape;541;p18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18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3" name="Google Shape;543;p18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4" name="Google Shape;544;p18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5" name="Google Shape;545;p18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6" name="Google Shape;546;p18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7" name="Google Shape;547;p18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8" name="Google Shape;548;p18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9" name="Google Shape;549;p18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0" name="Google Shape;550;p18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p19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2" name="Google Shape;582;p19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8" name="Google Shape;588;p20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1" name="Google Shape;681;p2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5"/>
          <p:cNvSpPr/>
          <p:nvPr/>
        </p:nvSpPr>
        <p:spPr>
          <a:xfrm rot="1053742">
            <a:off x="5320258" y="548068"/>
            <a:ext cx="4314987" cy="4418593"/>
          </a:xfrm>
          <a:custGeom>
            <a:rect b="b" l="l" r="r" t="t"/>
            <a:pathLst>
              <a:path extrusionOk="0" h="44028" w="45721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5"/>
          <p:cNvSpPr txBox="1"/>
          <p:nvPr>
            <p:ph type="ctrTitle"/>
          </p:nvPr>
        </p:nvSpPr>
        <p:spPr>
          <a:xfrm>
            <a:off x="0" y="426257"/>
            <a:ext cx="5446800" cy="240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lang="en" sz="2580">
                <a:solidFill>
                  <a:schemeClr val="accent6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Comparación de Boost Flat Map vs Google B-Tree en la Administración de Caché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50" name="Google Shape;750;p25"/>
          <p:cNvSpPr txBox="1"/>
          <p:nvPr>
            <p:ph idx="1" type="subTitle"/>
          </p:nvPr>
        </p:nvSpPr>
        <p:spPr>
          <a:xfrm>
            <a:off x="667350" y="3580036"/>
            <a:ext cx="4112100" cy="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 Light"/>
                <a:ea typeface="IBM Plex Mono Light"/>
                <a:cs typeface="IBM Plex Mono Light"/>
                <a:sym typeface="IBM Plex Mono Light"/>
              </a:rPr>
              <a:t>Freddy Ovalle C.I. V-31.709.650</a:t>
            </a:r>
            <a:endParaRPr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 Light"/>
                <a:ea typeface="IBM Plex Mono Light"/>
                <a:cs typeface="IBM Plex Mono Light"/>
                <a:sym typeface="IBM Plex Mono Light"/>
              </a:rPr>
              <a:t>Juan Bermudez C.I. V-31.608.369</a:t>
            </a:r>
            <a:endParaRPr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pic>
        <p:nvPicPr>
          <p:cNvPr id="751" name="Google Shape;751;p25" title="watermarked_img_14260297334257140796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475" y="1332412"/>
            <a:ext cx="4515200" cy="24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2" name="Google Shape;752;p25"/>
          <p:cNvGrpSpPr/>
          <p:nvPr/>
        </p:nvGrpSpPr>
        <p:grpSpPr>
          <a:xfrm>
            <a:off x="2529862" y="2973840"/>
            <a:ext cx="387099" cy="353207"/>
            <a:chOff x="1989911" y="2306065"/>
            <a:chExt cx="387099" cy="353207"/>
          </a:xfrm>
        </p:grpSpPr>
        <p:sp>
          <p:nvSpPr>
            <p:cNvPr id="753" name="Google Shape;753;p25"/>
            <p:cNvSpPr/>
            <p:nvPr/>
          </p:nvSpPr>
          <p:spPr>
            <a:xfrm>
              <a:off x="2110003" y="2555181"/>
              <a:ext cx="146916" cy="88775"/>
            </a:xfrm>
            <a:custGeom>
              <a:rect b="b" l="l" r="r" t="t"/>
              <a:pathLst>
                <a:path extrusionOk="0" h="3379" w="5592">
                  <a:moveTo>
                    <a:pt x="2796" y="1"/>
                  </a:moveTo>
                  <a:lnTo>
                    <a:pt x="576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2865" y="3379"/>
                  </a:lnTo>
                  <a:lnTo>
                    <a:pt x="5591" y="2879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2110003" y="2555181"/>
              <a:ext cx="137615" cy="81681"/>
            </a:xfrm>
            <a:custGeom>
              <a:rect b="b" l="l" r="r" t="t"/>
              <a:pathLst>
                <a:path extrusionOk="0" h="3109" w="5238">
                  <a:moveTo>
                    <a:pt x="2796" y="1"/>
                  </a:moveTo>
                  <a:lnTo>
                    <a:pt x="583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1561" y="1714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989911" y="2306065"/>
              <a:ext cx="387099" cy="275021"/>
            </a:xfrm>
            <a:custGeom>
              <a:rect b="b" l="l" r="r" t="t"/>
              <a:pathLst>
                <a:path extrusionOk="0" h="10468" w="14734">
                  <a:moveTo>
                    <a:pt x="1215" y="1"/>
                  </a:moveTo>
                  <a:cubicBezTo>
                    <a:pt x="542" y="1"/>
                    <a:pt x="1" y="549"/>
                    <a:pt x="1" y="1222"/>
                  </a:cubicBezTo>
                  <a:lnTo>
                    <a:pt x="1" y="9247"/>
                  </a:lnTo>
                  <a:cubicBezTo>
                    <a:pt x="1" y="9920"/>
                    <a:pt x="542" y="10468"/>
                    <a:pt x="1215" y="10468"/>
                  </a:cubicBezTo>
                  <a:lnTo>
                    <a:pt x="13513" y="10468"/>
                  </a:lnTo>
                  <a:cubicBezTo>
                    <a:pt x="14185" y="10468"/>
                    <a:pt x="14733" y="9920"/>
                    <a:pt x="14733" y="9247"/>
                  </a:cubicBezTo>
                  <a:lnTo>
                    <a:pt x="14733" y="1222"/>
                  </a:lnTo>
                  <a:cubicBezTo>
                    <a:pt x="14733" y="549"/>
                    <a:pt x="14185" y="1"/>
                    <a:pt x="1351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2021438" y="2337723"/>
              <a:ext cx="324045" cy="193628"/>
            </a:xfrm>
            <a:custGeom>
              <a:rect b="b" l="l" r="r" t="t"/>
              <a:pathLst>
                <a:path extrusionOk="0" h="7370" w="12334">
                  <a:moveTo>
                    <a:pt x="12320" y="1"/>
                  </a:moveTo>
                  <a:cubicBezTo>
                    <a:pt x="12318" y="1"/>
                    <a:pt x="12315" y="2"/>
                    <a:pt x="12313" y="3"/>
                  </a:cubicBezTo>
                  <a:lnTo>
                    <a:pt x="15" y="3"/>
                  </a:lnTo>
                  <a:cubicBezTo>
                    <a:pt x="8" y="3"/>
                    <a:pt x="1" y="10"/>
                    <a:pt x="1" y="17"/>
                  </a:cubicBezTo>
                  <a:lnTo>
                    <a:pt x="1" y="7369"/>
                  </a:lnTo>
                  <a:lnTo>
                    <a:pt x="12333" y="7369"/>
                  </a:lnTo>
                  <a:lnTo>
                    <a:pt x="12333" y="17"/>
                  </a:lnTo>
                  <a:cubicBezTo>
                    <a:pt x="12333" y="11"/>
                    <a:pt x="12329" y="1"/>
                    <a:pt x="1232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2327224" y="2337776"/>
              <a:ext cx="18259" cy="193576"/>
            </a:xfrm>
            <a:custGeom>
              <a:rect b="b" l="l" r="r" t="t"/>
              <a:pathLst>
                <a:path extrusionOk="0" h="7368" w="695">
                  <a:moveTo>
                    <a:pt x="1" y="1"/>
                  </a:moveTo>
                  <a:cubicBezTo>
                    <a:pt x="1" y="8"/>
                    <a:pt x="1" y="8"/>
                    <a:pt x="1" y="15"/>
                  </a:cubicBezTo>
                  <a:lnTo>
                    <a:pt x="1" y="7367"/>
                  </a:lnTo>
                  <a:lnTo>
                    <a:pt x="694" y="7367"/>
                  </a:lnTo>
                  <a:lnTo>
                    <a:pt x="694" y="15"/>
                  </a:lnTo>
                  <a:cubicBezTo>
                    <a:pt x="694" y="8"/>
                    <a:pt x="694" y="8"/>
                    <a:pt x="69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2069543" y="2630819"/>
              <a:ext cx="227651" cy="28453"/>
            </a:xfrm>
            <a:custGeom>
              <a:rect b="b" l="l" r="r" t="t"/>
              <a:pathLst>
                <a:path extrusionOk="0" h="1083" w="8665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cubicBezTo>
                    <a:pt x="1" y="839"/>
                    <a:pt x="244" y="1082"/>
                    <a:pt x="542" y="1082"/>
                  </a:cubicBezTo>
                  <a:lnTo>
                    <a:pt x="8123" y="1082"/>
                  </a:lnTo>
                  <a:cubicBezTo>
                    <a:pt x="8421" y="1082"/>
                    <a:pt x="8664" y="839"/>
                    <a:pt x="8664" y="541"/>
                  </a:cubicBezTo>
                  <a:cubicBezTo>
                    <a:pt x="8664" y="243"/>
                    <a:pt x="8421" y="0"/>
                    <a:pt x="81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2175237" y="2549191"/>
              <a:ext cx="14975" cy="11849"/>
            </a:xfrm>
            <a:custGeom>
              <a:rect b="b" l="l" r="r" t="t"/>
              <a:pathLst>
                <a:path extrusionOk="0" h="451" w="570">
                  <a:moveTo>
                    <a:pt x="312" y="0"/>
                  </a:moveTo>
                  <a:cubicBezTo>
                    <a:pt x="266" y="0"/>
                    <a:pt x="218" y="15"/>
                    <a:pt x="174" y="48"/>
                  </a:cubicBezTo>
                  <a:cubicBezTo>
                    <a:pt x="1" y="180"/>
                    <a:pt x="91" y="451"/>
                    <a:pt x="313" y="451"/>
                  </a:cubicBezTo>
                  <a:cubicBezTo>
                    <a:pt x="410" y="451"/>
                    <a:pt x="500" y="381"/>
                    <a:pt x="528" y="284"/>
                  </a:cubicBezTo>
                  <a:cubicBezTo>
                    <a:pt x="570" y="129"/>
                    <a:pt x="448" y="0"/>
                    <a:pt x="3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26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638550" y="648173"/>
            <a:ext cx="4311075" cy="38471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5" name="Google Shape;765;p26"/>
          <p:cNvSpPr txBox="1"/>
          <p:nvPr/>
        </p:nvSpPr>
        <p:spPr>
          <a:xfrm>
            <a:off x="5119700" y="648175"/>
            <a:ext cx="2973300" cy="15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 Light"/>
                <a:ea typeface="JetBrains Mono Light"/>
                <a:cs typeface="JetBrains Mono Light"/>
                <a:sym typeface="JetBrains Mono Light"/>
              </a:rPr>
              <a:t>El rendimiento global depende del acceso, no del procesamiento. EN los sistemas modernos, la CPU pasa gran parte de su tiempo inactiva esperando a la memoria principal</a:t>
            </a:r>
            <a:endParaRPr sz="1200">
              <a:solidFill>
                <a:schemeClr val="dk1"/>
              </a:solidFill>
              <a:latin typeface="JetBrains Mono Light"/>
              <a:ea typeface="JetBrains Mono Light"/>
              <a:cs typeface="JetBrains Mono Light"/>
              <a:sym typeface="JetBrains Mono Light"/>
            </a:endParaRPr>
          </a:p>
        </p:txBody>
      </p:sp>
      <p:sp>
        <p:nvSpPr>
          <p:cNvPr id="766" name="Google Shape;766;p26"/>
          <p:cNvSpPr txBox="1"/>
          <p:nvPr/>
        </p:nvSpPr>
        <p:spPr>
          <a:xfrm>
            <a:off x="5626975" y="2265299"/>
            <a:ext cx="3301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El Problema: Latencia extrema en RAM.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767" name="Google Shape;767;p26"/>
          <p:cNvSpPr txBox="1"/>
          <p:nvPr/>
        </p:nvSpPr>
        <p:spPr>
          <a:xfrm>
            <a:off x="5640625" y="2853125"/>
            <a:ext cx="2841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La Solución Hardware: Jerarquía de memoria caché(SRAM en chip).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5626975" y="3640925"/>
            <a:ext cx="28689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El Reto de Software: Diseñar estructuras de datos que maximicen el uso de esta jerarquía física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grpSp>
        <p:nvGrpSpPr>
          <p:cNvPr id="769" name="Google Shape;769;p26"/>
          <p:cNvGrpSpPr/>
          <p:nvPr/>
        </p:nvGrpSpPr>
        <p:grpSpPr>
          <a:xfrm>
            <a:off x="5205005" y="2431138"/>
            <a:ext cx="345720" cy="345720"/>
            <a:chOff x="5873617" y="2309901"/>
            <a:chExt cx="345720" cy="345720"/>
          </a:xfrm>
        </p:grpSpPr>
        <p:sp>
          <p:nvSpPr>
            <p:cNvPr id="770" name="Google Shape;770;p26"/>
            <p:cNvSpPr/>
            <p:nvPr/>
          </p:nvSpPr>
          <p:spPr>
            <a:xfrm>
              <a:off x="5873617" y="2309901"/>
              <a:ext cx="345720" cy="345720"/>
            </a:xfrm>
            <a:custGeom>
              <a:rect b="b" l="l" r="r" t="t"/>
              <a:pathLst>
                <a:path extrusionOk="0" h="13159" w="13159">
                  <a:moveTo>
                    <a:pt x="6583" y="1"/>
                  </a:moveTo>
                  <a:cubicBezTo>
                    <a:pt x="2949" y="1"/>
                    <a:pt x="1" y="2942"/>
                    <a:pt x="1" y="6576"/>
                  </a:cubicBezTo>
                  <a:cubicBezTo>
                    <a:pt x="1" y="10211"/>
                    <a:pt x="2949" y="13159"/>
                    <a:pt x="6583" y="13159"/>
                  </a:cubicBezTo>
                  <a:cubicBezTo>
                    <a:pt x="10218" y="13159"/>
                    <a:pt x="13159" y="10211"/>
                    <a:pt x="13159" y="6576"/>
                  </a:cubicBezTo>
                  <a:cubicBezTo>
                    <a:pt x="13159" y="2942"/>
                    <a:pt x="10218" y="1"/>
                    <a:pt x="6583" y="1"/>
                  </a:cubicBezTo>
                  <a:close/>
                </a:path>
              </a:pathLst>
            </a:custGeom>
            <a:solidFill>
              <a:srgbClr val="7988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5899496" y="2335779"/>
              <a:ext cx="293963" cy="293963"/>
            </a:xfrm>
            <a:custGeom>
              <a:rect b="b" l="l" r="r" t="t"/>
              <a:pathLst>
                <a:path extrusionOk="0" h="11189" w="11189">
                  <a:moveTo>
                    <a:pt x="5598" y="1"/>
                  </a:moveTo>
                  <a:cubicBezTo>
                    <a:pt x="2505" y="1"/>
                    <a:pt x="1" y="2504"/>
                    <a:pt x="1" y="5591"/>
                  </a:cubicBezTo>
                  <a:cubicBezTo>
                    <a:pt x="1" y="8685"/>
                    <a:pt x="2505" y="11189"/>
                    <a:pt x="5598" y="11189"/>
                  </a:cubicBezTo>
                  <a:cubicBezTo>
                    <a:pt x="8685" y="11189"/>
                    <a:pt x="11189" y="8685"/>
                    <a:pt x="11189" y="5591"/>
                  </a:cubicBezTo>
                  <a:cubicBezTo>
                    <a:pt x="11189" y="2504"/>
                    <a:pt x="8685" y="1"/>
                    <a:pt x="5598" y="1"/>
                  </a:cubicBez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6041288" y="2356088"/>
              <a:ext cx="10404" cy="131888"/>
            </a:xfrm>
            <a:custGeom>
              <a:rect b="b" l="l" r="r" t="t"/>
              <a:pathLst>
                <a:path extrusionOk="0" h="5020" w="396">
                  <a:moveTo>
                    <a:pt x="198" y="1"/>
                  </a:moveTo>
                  <a:cubicBezTo>
                    <a:pt x="99" y="1"/>
                    <a:pt x="0" y="67"/>
                    <a:pt x="0" y="199"/>
                  </a:cubicBezTo>
                  <a:lnTo>
                    <a:pt x="0" y="4818"/>
                  </a:lnTo>
                  <a:cubicBezTo>
                    <a:pt x="0" y="4929"/>
                    <a:pt x="90" y="5019"/>
                    <a:pt x="201" y="5019"/>
                  </a:cubicBezTo>
                  <a:cubicBezTo>
                    <a:pt x="305" y="5019"/>
                    <a:pt x="395" y="4929"/>
                    <a:pt x="395" y="4818"/>
                  </a:cubicBezTo>
                  <a:lnTo>
                    <a:pt x="395" y="199"/>
                  </a:lnTo>
                  <a:cubicBezTo>
                    <a:pt x="395" y="67"/>
                    <a:pt x="297" y="1"/>
                    <a:pt x="198" y="1"/>
                  </a:cubicBezTo>
                  <a:close/>
                </a:path>
              </a:pathLst>
            </a:custGeom>
            <a:solidFill>
              <a:srgbClr val="A3AD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6039449" y="2477546"/>
              <a:ext cx="135435" cy="10430"/>
            </a:xfrm>
            <a:custGeom>
              <a:rect b="b" l="l" r="r" t="t"/>
              <a:pathLst>
                <a:path extrusionOk="0" h="397" w="5155">
                  <a:moveTo>
                    <a:pt x="271" y="1"/>
                  </a:moveTo>
                  <a:cubicBezTo>
                    <a:pt x="1" y="1"/>
                    <a:pt x="1" y="396"/>
                    <a:pt x="271" y="396"/>
                  </a:cubicBezTo>
                  <a:lnTo>
                    <a:pt x="4891" y="396"/>
                  </a:lnTo>
                  <a:cubicBezTo>
                    <a:pt x="5154" y="396"/>
                    <a:pt x="5154" y="1"/>
                    <a:pt x="4891" y="1"/>
                  </a:cubicBezTo>
                  <a:close/>
                </a:path>
              </a:pathLst>
            </a:custGeom>
            <a:solidFill>
              <a:srgbClr val="A3AD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5935778" y="2372035"/>
              <a:ext cx="275178" cy="257970"/>
            </a:xfrm>
            <a:custGeom>
              <a:rect b="b" l="l" r="r" t="t"/>
              <a:pathLst>
                <a:path extrusionOk="0" h="9819" w="10474">
                  <a:moveTo>
                    <a:pt x="7893" y="1"/>
                  </a:moveTo>
                  <a:cubicBezTo>
                    <a:pt x="9815" y="2213"/>
                    <a:pt x="9697" y="5543"/>
                    <a:pt x="7623" y="7617"/>
                  </a:cubicBezTo>
                  <a:cubicBezTo>
                    <a:pt x="6532" y="8704"/>
                    <a:pt x="5100" y="9254"/>
                    <a:pt x="3664" y="9254"/>
                  </a:cubicBezTo>
                  <a:cubicBezTo>
                    <a:pt x="2361" y="9254"/>
                    <a:pt x="1056" y="8801"/>
                    <a:pt x="0" y="7887"/>
                  </a:cubicBezTo>
                  <a:lnTo>
                    <a:pt x="0" y="7887"/>
                  </a:lnTo>
                  <a:cubicBezTo>
                    <a:pt x="1112" y="9170"/>
                    <a:pt x="2669" y="9818"/>
                    <a:pt x="4229" y="9818"/>
                  </a:cubicBezTo>
                  <a:cubicBezTo>
                    <a:pt x="5657" y="9818"/>
                    <a:pt x="7088" y="9275"/>
                    <a:pt x="8185" y="8179"/>
                  </a:cubicBezTo>
                  <a:cubicBezTo>
                    <a:pt x="10474" y="5883"/>
                    <a:pt x="10342" y="2123"/>
                    <a:pt x="7893" y="1"/>
                  </a:cubicBezTo>
                  <a:close/>
                </a:path>
              </a:pathLst>
            </a:custGeom>
            <a:solidFill>
              <a:srgbClr val="BCCA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5918097" y="2477546"/>
              <a:ext cx="21333" cy="10430"/>
            </a:xfrm>
            <a:custGeom>
              <a:rect b="b" l="l" r="r" t="t"/>
              <a:pathLst>
                <a:path extrusionOk="0" h="397" w="812">
                  <a:moveTo>
                    <a:pt x="264" y="1"/>
                  </a:moveTo>
                  <a:cubicBezTo>
                    <a:pt x="0" y="1"/>
                    <a:pt x="0" y="396"/>
                    <a:pt x="264" y="396"/>
                  </a:cubicBezTo>
                  <a:lnTo>
                    <a:pt x="548" y="396"/>
                  </a:lnTo>
                  <a:cubicBezTo>
                    <a:pt x="812" y="396"/>
                    <a:pt x="812" y="1"/>
                    <a:pt x="548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6041288" y="2591542"/>
              <a:ext cx="10404" cy="17970"/>
            </a:xfrm>
            <a:custGeom>
              <a:rect b="b" l="l" r="r" t="t"/>
              <a:pathLst>
                <a:path extrusionOk="0" h="684" w="396">
                  <a:moveTo>
                    <a:pt x="198" y="0"/>
                  </a:moveTo>
                  <a:cubicBezTo>
                    <a:pt x="99" y="0"/>
                    <a:pt x="0" y="66"/>
                    <a:pt x="0" y="198"/>
                  </a:cubicBezTo>
                  <a:lnTo>
                    <a:pt x="0" y="483"/>
                  </a:lnTo>
                  <a:cubicBezTo>
                    <a:pt x="0" y="594"/>
                    <a:pt x="90" y="684"/>
                    <a:pt x="201" y="684"/>
                  </a:cubicBezTo>
                  <a:cubicBezTo>
                    <a:pt x="305" y="684"/>
                    <a:pt x="395" y="594"/>
                    <a:pt x="395" y="483"/>
                  </a:cubicBezTo>
                  <a:lnTo>
                    <a:pt x="395" y="198"/>
                  </a:lnTo>
                  <a:cubicBezTo>
                    <a:pt x="395" y="66"/>
                    <a:pt x="297" y="0"/>
                    <a:pt x="198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5953144" y="2391556"/>
              <a:ext cx="19836" cy="15869"/>
            </a:xfrm>
            <a:custGeom>
              <a:rect b="b" l="l" r="r" t="t"/>
              <a:pathLst>
                <a:path extrusionOk="0" h="604" w="755">
                  <a:moveTo>
                    <a:pt x="285" y="0"/>
                  </a:moveTo>
                  <a:cubicBezTo>
                    <a:pt x="133" y="0"/>
                    <a:pt x="0" y="196"/>
                    <a:pt x="144" y="340"/>
                  </a:cubicBezTo>
                  <a:lnTo>
                    <a:pt x="345" y="541"/>
                  </a:lnTo>
                  <a:cubicBezTo>
                    <a:pt x="379" y="583"/>
                    <a:pt x="435" y="603"/>
                    <a:pt x="484" y="603"/>
                  </a:cubicBezTo>
                  <a:cubicBezTo>
                    <a:pt x="664" y="603"/>
                    <a:pt x="754" y="388"/>
                    <a:pt x="629" y="264"/>
                  </a:cubicBezTo>
                  <a:lnTo>
                    <a:pt x="421" y="62"/>
                  </a:lnTo>
                  <a:cubicBezTo>
                    <a:pt x="379" y="19"/>
                    <a:pt x="331" y="0"/>
                    <a:pt x="28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6119686" y="2557939"/>
              <a:ext cx="19652" cy="15869"/>
            </a:xfrm>
            <a:custGeom>
              <a:rect b="b" l="l" r="r" t="t"/>
              <a:pathLst>
                <a:path extrusionOk="0" h="604" w="748">
                  <a:moveTo>
                    <a:pt x="285" y="1"/>
                  </a:moveTo>
                  <a:cubicBezTo>
                    <a:pt x="131" y="1"/>
                    <a:pt x="0" y="202"/>
                    <a:pt x="144" y="347"/>
                  </a:cubicBezTo>
                  <a:lnTo>
                    <a:pt x="345" y="548"/>
                  </a:lnTo>
                  <a:cubicBezTo>
                    <a:pt x="380" y="582"/>
                    <a:pt x="429" y="603"/>
                    <a:pt x="484" y="603"/>
                  </a:cubicBezTo>
                  <a:cubicBezTo>
                    <a:pt x="658" y="603"/>
                    <a:pt x="748" y="388"/>
                    <a:pt x="623" y="263"/>
                  </a:cubicBezTo>
                  <a:lnTo>
                    <a:pt x="422" y="62"/>
                  </a:lnTo>
                  <a:cubicBezTo>
                    <a:pt x="379" y="19"/>
                    <a:pt x="331" y="1"/>
                    <a:pt x="285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6120185" y="2391556"/>
              <a:ext cx="19652" cy="15869"/>
            </a:xfrm>
            <a:custGeom>
              <a:rect b="b" l="l" r="r" t="t"/>
              <a:pathLst>
                <a:path extrusionOk="0" h="604" w="748">
                  <a:moveTo>
                    <a:pt x="466" y="0"/>
                  </a:moveTo>
                  <a:cubicBezTo>
                    <a:pt x="419" y="0"/>
                    <a:pt x="370" y="19"/>
                    <a:pt x="326" y="62"/>
                  </a:cubicBezTo>
                  <a:lnTo>
                    <a:pt x="125" y="264"/>
                  </a:lnTo>
                  <a:cubicBezTo>
                    <a:pt x="0" y="388"/>
                    <a:pt x="84" y="603"/>
                    <a:pt x="264" y="603"/>
                  </a:cubicBezTo>
                  <a:cubicBezTo>
                    <a:pt x="313" y="603"/>
                    <a:pt x="368" y="583"/>
                    <a:pt x="403" y="541"/>
                  </a:cubicBezTo>
                  <a:lnTo>
                    <a:pt x="604" y="340"/>
                  </a:lnTo>
                  <a:cubicBezTo>
                    <a:pt x="747" y="196"/>
                    <a:pt x="618" y="0"/>
                    <a:pt x="46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5953617" y="2557939"/>
              <a:ext cx="19862" cy="15869"/>
            </a:xfrm>
            <a:custGeom>
              <a:rect b="b" l="l" r="r" t="t"/>
              <a:pathLst>
                <a:path extrusionOk="0" h="604" w="756">
                  <a:moveTo>
                    <a:pt x="465" y="1"/>
                  </a:moveTo>
                  <a:cubicBezTo>
                    <a:pt x="418" y="1"/>
                    <a:pt x="370" y="19"/>
                    <a:pt x="327" y="62"/>
                  </a:cubicBezTo>
                  <a:lnTo>
                    <a:pt x="126" y="263"/>
                  </a:lnTo>
                  <a:cubicBezTo>
                    <a:pt x="1" y="388"/>
                    <a:pt x="91" y="603"/>
                    <a:pt x="264" y="603"/>
                  </a:cubicBezTo>
                  <a:cubicBezTo>
                    <a:pt x="320" y="603"/>
                    <a:pt x="368" y="582"/>
                    <a:pt x="403" y="548"/>
                  </a:cubicBezTo>
                  <a:lnTo>
                    <a:pt x="611" y="347"/>
                  </a:lnTo>
                  <a:cubicBezTo>
                    <a:pt x="755" y="202"/>
                    <a:pt x="620" y="1"/>
                    <a:pt x="465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5927056" y="2429887"/>
              <a:ext cx="21859" cy="13425"/>
            </a:xfrm>
            <a:custGeom>
              <a:rect b="b" l="l" r="r" t="t"/>
              <a:pathLst>
                <a:path extrusionOk="0" h="511" w="832">
                  <a:moveTo>
                    <a:pt x="289" y="0"/>
                  </a:moveTo>
                  <a:cubicBezTo>
                    <a:pt x="98" y="0"/>
                    <a:pt x="1" y="295"/>
                    <a:pt x="214" y="386"/>
                  </a:cubicBezTo>
                  <a:lnTo>
                    <a:pt x="478" y="497"/>
                  </a:lnTo>
                  <a:cubicBezTo>
                    <a:pt x="499" y="504"/>
                    <a:pt x="526" y="511"/>
                    <a:pt x="554" y="511"/>
                  </a:cubicBezTo>
                  <a:cubicBezTo>
                    <a:pt x="769" y="511"/>
                    <a:pt x="831" y="213"/>
                    <a:pt x="630" y="129"/>
                  </a:cubicBezTo>
                  <a:lnTo>
                    <a:pt x="374" y="18"/>
                  </a:lnTo>
                  <a:cubicBezTo>
                    <a:pt x="344" y="6"/>
                    <a:pt x="316" y="0"/>
                    <a:pt x="289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6143751" y="2522077"/>
              <a:ext cx="21832" cy="13452"/>
            </a:xfrm>
            <a:custGeom>
              <a:rect b="b" l="l" r="r" t="t"/>
              <a:pathLst>
                <a:path extrusionOk="0" h="512" w="831">
                  <a:moveTo>
                    <a:pt x="287" y="0"/>
                  </a:moveTo>
                  <a:cubicBezTo>
                    <a:pt x="97" y="0"/>
                    <a:pt x="1" y="289"/>
                    <a:pt x="213" y="380"/>
                  </a:cubicBezTo>
                  <a:lnTo>
                    <a:pt x="477" y="491"/>
                  </a:lnTo>
                  <a:cubicBezTo>
                    <a:pt x="498" y="505"/>
                    <a:pt x="525" y="512"/>
                    <a:pt x="553" y="512"/>
                  </a:cubicBezTo>
                  <a:cubicBezTo>
                    <a:pt x="768" y="512"/>
                    <a:pt x="831" y="213"/>
                    <a:pt x="629" y="130"/>
                  </a:cubicBezTo>
                  <a:lnTo>
                    <a:pt x="373" y="19"/>
                  </a:lnTo>
                  <a:cubicBezTo>
                    <a:pt x="343" y="6"/>
                    <a:pt x="314" y="0"/>
                    <a:pt x="287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6084822" y="2365730"/>
              <a:ext cx="15816" cy="17261"/>
            </a:xfrm>
            <a:custGeom>
              <a:rect b="b" l="l" r="r" t="t"/>
              <a:pathLst>
                <a:path extrusionOk="0" h="657" w="602">
                  <a:moveTo>
                    <a:pt x="345" y="0"/>
                  </a:moveTo>
                  <a:cubicBezTo>
                    <a:pt x="275" y="0"/>
                    <a:pt x="204" y="37"/>
                    <a:pt x="167" y="123"/>
                  </a:cubicBezTo>
                  <a:lnTo>
                    <a:pt x="56" y="386"/>
                  </a:lnTo>
                  <a:cubicBezTo>
                    <a:pt x="1" y="511"/>
                    <a:pt x="98" y="657"/>
                    <a:pt x="237" y="657"/>
                  </a:cubicBezTo>
                  <a:cubicBezTo>
                    <a:pt x="320" y="657"/>
                    <a:pt x="389" y="608"/>
                    <a:pt x="424" y="539"/>
                  </a:cubicBezTo>
                  <a:lnTo>
                    <a:pt x="535" y="276"/>
                  </a:lnTo>
                  <a:cubicBezTo>
                    <a:pt x="602" y="119"/>
                    <a:pt x="473" y="0"/>
                    <a:pt x="34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5992632" y="2582399"/>
              <a:ext cx="15816" cy="17287"/>
            </a:xfrm>
            <a:custGeom>
              <a:rect b="b" l="l" r="r" t="t"/>
              <a:pathLst>
                <a:path extrusionOk="0" h="658" w="602">
                  <a:moveTo>
                    <a:pt x="350" y="0"/>
                  </a:moveTo>
                  <a:cubicBezTo>
                    <a:pt x="280" y="0"/>
                    <a:pt x="211" y="37"/>
                    <a:pt x="174" y="123"/>
                  </a:cubicBezTo>
                  <a:lnTo>
                    <a:pt x="56" y="387"/>
                  </a:lnTo>
                  <a:cubicBezTo>
                    <a:pt x="0" y="511"/>
                    <a:pt x="97" y="657"/>
                    <a:pt x="243" y="657"/>
                  </a:cubicBezTo>
                  <a:cubicBezTo>
                    <a:pt x="319" y="657"/>
                    <a:pt x="396" y="609"/>
                    <a:pt x="423" y="539"/>
                  </a:cubicBezTo>
                  <a:lnTo>
                    <a:pt x="534" y="276"/>
                  </a:lnTo>
                  <a:cubicBezTo>
                    <a:pt x="601" y="119"/>
                    <a:pt x="475" y="0"/>
                    <a:pt x="350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5994445" y="2364758"/>
              <a:ext cx="15527" cy="17524"/>
            </a:xfrm>
            <a:custGeom>
              <a:rect b="b" l="l" r="r" t="t"/>
              <a:pathLst>
                <a:path extrusionOk="0" h="667" w="591">
                  <a:moveTo>
                    <a:pt x="255" y="1"/>
                  </a:moveTo>
                  <a:cubicBezTo>
                    <a:pt x="129" y="1"/>
                    <a:pt x="1" y="118"/>
                    <a:pt x="63" y="278"/>
                  </a:cubicBezTo>
                  <a:lnTo>
                    <a:pt x="174" y="541"/>
                  </a:lnTo>
                  <a:cubicBezTo>
                    <a:pt x="202" y="611"/>
                    <a:pt x="271" y="659"/>
                    <a:pt x="354" y="666"/>
                  </a:cubicBezTo>
                  <a:cubicBezTo>
                    <a:pt x="493" y="666"/>
                    <a:pt x="590" y="521"/>
                    <a:pt x="542" y="389"/>
                  </a:cubicBezTo>
                  <a:lnTo>
                    <a:pt x="431" y="125"/>
                  </a:lnTo>
                  <a:cubicBezTo>
                    <a:pt x="396" y="38"/>
                    <a:pt x="326" y="1"/>
                    <a:pt x="255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6082641" y="2583161"/>
              <a:ext cx="15527" cy="17419"/>
            </a:xfrm>
            <a:custGeom>
              <a:rect b="b" l="l" r="r" t="t"/>
              <a:pathLst>
                <a:path extrusionOk="0" h="663" w="591">
                  <a:moveTo>
                    <a:pt x="254" y="1"/>
                  </a:moveTo>
                  <a:cubicBezTo>
                    <a:pt x="129" y="1"/>
                    <a:pt x="1" y="119"/>
                    <a:pt x="63" y="274"/>
                  </a:cubicBezTo>
                  <a:lnTo>
                    <a:pt x="174" y="538"/>
                  </a:lnTo>
                  <a:cubicBezTo>
                    <a:pt x="202" y="614"/>
                    <a:pt x="271" y="663"/>
                    <a:pt x="354" y="663"/>
                  </a:cubicBezTo>
                  <a:cubicBezTo>
                    <a:pt x="493" y="663"/>
                    <a:pt x="590" y="524"/>
                    <a:pt x="542" y="392"/>
                  </a:cubicBezTo>
                  <a:lnTo>
                    <a:pt x="431" y="129"/>
                  </a:lnTo>
                  <a:cubicBezTo>
                    <a:pt x="396" y="39"/>
                    <a:pt x="325" y="1"/>
                    <a:pt x="254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6144776" y="2431936"/>
              <a:ext cx="22069" cy="13399"/>
            </a:xfrm>
            <a:custGeom>
              <a:rect b="b" l="l" r="r" t="t"/>
              <a:pathLst>
                <a:path extrusionOk="0" h="510" w="840">
                  <a:moveTo>
                    <a:pt x="552" y="1"/>
                  </a:moveTo>
                  <a:cubicBezTo>
                    <a:pt x="527" y="1"/>
                    <a:pt x="500" y="6"/>
                    <a:pt x="473" y="17"/>
                  </a:cubicBezTo>
                  <a:lnTo>
                    <a:pt x="209" y="128"/>
                  </a:lnTo>
                  <a:cubicBezTo>
                    <a:pt x="1" y="204"/>
                    <a:pt x="63" y="509"/>
                    <a:pt x="285" y="509"/>
                  </a:cubicBezTo>
                  <a:cubicBezTo>
                    <a:pt x="306" y="509"/>
                    <a:pt x="334" y="502"/>
                    <a:pt x="355" y="495"/>
                  </a:cubicBezTo>
                  <a:lnTo>
                    <a:pt x="618" y="384"/>
                  </a:lnTo>
                  <a:cubicBezTo>
                    <a:pt x="839" y="298"/>
                    <a:pt x="745" y="1"/>
                    <a:pt x="552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5926530" y="2520081"/>
              <a:ext cx="21964" cy="13268"/>
            </a:xfrm>
            <a:custGeom>
              <a:rect b="b" l="l" r="r" t="t"/>
              <a:pathLst>
                <a:path extrusionOk="0" h="505" w="836">
                  <a:moveTo>
                    <a:pt x="553" y="1"/>
                  </a:moveTo>
                  <a:cubicBezTo>
                    <a:pt x="527" y="1"/>
                    <a:pt x="499" y="6"/>
                    <a:pt x="470" y="19"/>
                  </a:cubicBezTo>
                  <a:lnTo>
                    <a:pt x="206" y="123"/>
                  </a:lnTo>
                  <a:cubicBezTo>
                    <a:pt x="1" y="205"/>
                    <a:pt x="59" y="504"/>
                    <a:pt x="275" y="504"/>
                  </a:cubicBezTo>
                  <a:cubicBezTo>
                    <a:pt x="278" y="504"/>
                    <a:pt x="280" y="504"/>
                    <a:pt x="283" y="504"/>
                  </a:cubicBezTo>
                  <a:lnTo>
                    <a:pt x="276" y="504"/>
                  </a:lnTo>
                  <a:cubicBezTo>
                    <a:pt x="303" y="504"/>
                    <a:pt x="331" y="504"/>
                    <a:pt x="352" y="490"/>
                  </a:cubicBezTo>
                  <a:lnTo>
                    <a:pt x="616" y="386"/>
                  </a:lnTo>
                  <a:cubicBezTo>
                    <a:pt x="835" y="301"/>
                    <a:pt x="744" y="1"/>
                    <a:pt x="553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26"/>
          <p:cNvGrpSpPr/>
          <p:nvPr/>
        </p:nvGrpSpPr>
        <p:grpSpPr>
          <a:xfrm>
            <a:off x="5127905" y="3918054"/>
            <a:ext cx="499920" cy="300136"/>
            <a:chOff x="6988887" y="1538854"/>
            <a:chExt cx="499920" cy="300136"/>
          </a:xfrm>
        </p:grpSpPr>
        <p:sp>
          <p:nvSpPr>
            <p:cNvPr id="790" name="Google Shape;790;p26"/>
            <p:cNvSpPr/>
            <p:nvPr/>
          </p:nvSpPr>
          <p:spPr>
            <a:xfrm>
              <a:off x="7052826" y="1538854"/>
              <a:ext cx="372777" cy="247155"/>
            </a:xfrm>
            <a:custGeom>
              <a:rect b="b" l="l" r="r" t="t"/>
              <a:pathLst>
                <a:path extrusionOk="0" h="9428" w="1422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6988887" y="1773872"/>
              <a:ext cx="499920" cy="33319"/>
            </a:xfrm>
            <a:custGeom>
              <a:rect b="b" l="l" r="r" t="t"/>
              <a:pathLst>
                <a:path extrusionOk="0" h="1271" w="1907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6988887" y="1798095"/>
              <a:ext cx="499920" cy="40895"/>
            </a:xfrm>
            <a:custGeom>
              <a:rect b="b" l="l" r="r" t="t"/>
              <a:pathLst>
                <a:path extrusionOk="0" h="1560" w="1907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7149323" y="1798095"/>
              <a:ext cx="180543" cy="29544"/>
            </a:xfrm>
            <a:custGeom>
              <a:rect b="b" l="l" r="r" t="t"/>
              <a:pathLst>
                <a:path extrusionOk="0" h="1127" w="6887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7052826" y="1562317"/>
              <a:ext cx="372777" cy="188119"/>
            </a:xfrm>
            <a:custGeom>
              <a:rect b="b" l="l" r="r" t="t"/>
              <a:pathLst>
                <a:path extrusionOk="0" h="7176" w="1422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7052826" y="1562317"/>
              <a:ext cx="139674" cy="188119"/>
            </a:xfrm>
            <a:custGeom>
              <a:rect b="b" l="l" r="r" t="t"/>
              <a:pathLst>
                <a:path extrusionOk="0" h="7176" w="5328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7087639" y="1601692"/>
              <a:ext cx="44697" cy="25376"/>
            </a:xfrm>
            <a:custGeom>
              <a:rect b="b" l="l" r="r" t="t"/>
              <a:pathLst>
                <a:path extrusionOk="0" h="968" w="1705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7077442" y="1642561"/>
              <a:ext cx="100299" cy="15152"/>
            </a:xfrm>
            <a:custGeom>
              <a:rect b="b" l="l" r="r" t="t"/>
              <a:pathLst>
                <a:path extrusionOk="0" h="578" w="3826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7122846" y="1671686"/>
              <a:ext cx="44670" cy="25769"/>
            </a:xfrm>
            <a:custGeom>
              <a:rect b="b" l="l" r="r" t="t"/>
              <a:pathLst>
                <a:path extrusionOk="0" h="983" w="1704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7077442" y="1712948"/>
              <a:ext cx="100299" cy="15152"/>
            </a:xfrm>
            <a:custGeom>
              <a:rect b="b" l="l" r="r" t="t"/>
              <a:pathLst>
                <a:path extrusionOk="0" h="578" w="3826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7228807" y="1623922"/>
              <a:ext cx="51041" cy="79589"/>
            </a:xfrm>
            <a:custGeom>
              <a:rect b="b" l="l" r="r" t="t"/>
              <a:pathLst>
                <a:path extrusionOk="0" h="3036" w="1947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7342449" y="1624079"/>
              <a:ext cx="50988" cy="79431"/>
            </a:xfrm>
            <a:custGeom>
              <a:rect b="b" l="l" r="r" t="t"/>
              <a:pathLst>
                <a:path extrusionOk="0" h="3030" w="1945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7287450" y="1614485"/>
              <a:ext cx="48734" cy="98490"/>
            </a:xfrm>
            <a:custGeom>
              <a:rect b="b" l="l" r="r" t="t"/>
              <a:pathLst>
                <a:path extrusionOk="0" h="3757" w="1859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3" name="Google Shape;803;p26"/>
          <p:cNvGrpSpPr/>
          <p:nvPr/>
        </p:nvGrpSpPr>
        <p:grpSpPr>
          <a:xfrm>
            <a:off x="5195637" y="3055637"/>
            <a:ext cx="364441" cy="364834"/>
            <a:chOff x="6086331" y="2905337"/>
            <a:chExt cx="364441" cy="364834"/>
          </a:xfrm>
        </p:grpSpPr>
        <p:sp>
          <p:nvSpPr>
            <p:cNvPr id="804" name="Google Shape;804;p26"/>
            <p:cNvSpPr/>
            <p:nvPr/>
          </p:nvSpPr>
          <p:spPr>
            <a:xfrm>
              <a:off x="6086331" y="2905337"/>
              <a:ext cx="277407" cy="277433"/>
            </a:xfrm>
            <a:custGeom>
              <a:rect b="b" l="l" r="r" t="t"/>
              <a:pathLst>
                <a:path extrusionOk="0" h="10583" w="10582">
                  <a:moveTo>
                    <a:pt x="4952" y="1"/>
                  </a:moveTo>
                  <a:cubicBezTo>
                    <a:pt x="4735" y="1"/>
                    <a:pt x="4533" y="160"/>
                    <a:pt x="4490" y="391"/>
                  </a:cubicBezTo>
                  <a:lnTo>
                    <a:pt x="4245" y="1589"/>
                  </a:lnTo>
                  <a:cubicBezTo>
                    <a:pt x="3956" y="1675"/>
                    <a:pt x="3667" y="1791"/>
                    <a:pt x="3407" y="1935"/>
                  </a:cubicBezTo>
                  <a:lnTo>
                    <a:pt x="2382" y="1257"/>
                  </a:lnTo>
                  <a:cubicBezTo>
                    <a:pt x="2303" y="1202"/>
                    <a:pt x="2210" y="1175"/>
                    <a:pt x="2117" y="1175"/>
                  </a:cubicBezTo>
                  <a:cubicBezTo>
                    <a:pt x="1992" y="1175"/>
                    <a:pt x="1867" y="1223"/>
                    <a:pt x="1776" y="1315"/>
                  </a:cubicBezTo>
                  <a:lnTo>
                    <a:pt x="1314" y="1791"/>
                  </a:lnTo>
                  <a:cubicBezTo>
                    <a:pt x="1155" y="1950"/>
                    <a:pt x="1127" y="2195"/>
                    <a:pt x="1256" y="2397"/>
                  </a:cubicBezTo>
                  <a:lnTo>
                    <a:pt x="1935" y="3408"/>
                  </a:lnTo>
                  <a:cubicBezTo>
                    <a:pt x="1776" y="3668"/>
                    <a:pt x="1661" y="3956"/>
                    <a:pt x="1589" y="4259"/>
                  </a:cubicBezTo>
                  <a:lnTo>
                    <a:pt x="376" y="4490"/>
                  </a:lnTo>
                  <a:cubicBezTo>
                    <a:pt x="159" y="4534"/>
                    <a:pt x="1" y="4736"/>
                    <a:pt x="1" y="4967"/>
                  </a:cubicBezTo>
                  <a:lnTo>
                    <a:pt x="1" y="5616"/>
                  </a:lnTo>
                  <a:cubicBezTo>
                    <a:pt x="1" y="5847"/>
                    <a:pt x="159" y="6049"/>
                    <a:pt x="376" y="6093"/>
                  </a:cubicBezTo>
                  <a:lnTo>
                    <a:pt x="1589" y="6338"/>
                  </a:lnTo>
                  <a:cubicBezTo>
                    <a:pt x="1661" y="6627"/>
                    <a:pt x="1776" y="6915"/>
                    <a:pt x="1935" y="7175"/>
                  </a:cubicBezTo>
                  <a:lnTo>
                    <a:pt x="1256" y="8200"/>
                  </a:lnTo>
                  <a:cubicBezTo>
                    <a:pt x="1127" y="8388"/>
                    <a:pt x="1155" y="8633"/>
                    <a:pt x="1314" y="8807"/>
                  </a:cubicBezTo>
                  <a:lnTo>
                    <a:pt x="1776" y="9268"/>
                  </a:lnTo>
                  <a:cubicBezTo>
                    <a:pt x="1867" y="9360"/>
                    <a:pt x="1992" y="9408"/>
                    <a:pt x="2117" y="9408"/>
                  </a:cubicBezTo>
                  <a:cubicBezTo>
                    <a:pt x="2210" y="9408"/>
                    <a:pt x="2303" y="9381"/>
                    <a:pt x="2382" y="9326"/>
                  </a:cubicBezTo>
                  <a:lnTo>
                    <a:pt x="3407" y="8648"/>
                  </a:lnTo>
                  <a:cubicBezTo>
                    <a:pt x="3667" y="8792"/>
                    <a:pt x="3956" y="8908"/>
                    <a:pt x="4245" y="8994"/>
                  </a:cubicBezTo>
                  <a:lnTo>
                    <a:pt x="4490" y="10192"/>
                  </a:lnTo>
                  <a:cubicBezTo>
                    <a:pt x="4533" y="10423"/>
                    <a:pt x="4735" y="10582"/>
                    <a:pt x="4952" y="10582"/>
                  </a:cubicBezTo>
                  <a:lnTo>
                    <a:pt x="5616" y="10582"/>
                  </a:lnTo>
                  <a:cubicBezTo>
                    <a:pt x="5847" y="10582"/>
                    <a:pt x="6035" y="10423"/>
                    <a:pt x="6078" y="10192"/>
                  </a:cubicBezTo>
                  <a:lnTo>
                    <a:pt x="6323" y="8994"/>
                  </a:lnTo>
                  <a:cubicBezTo>
                    <a:pt x="6612" y="8908"/>
                    <a:pt x="6901" y="8792"/>
                    <a:pt x="7175" y="8648"/>
                  </a:cubicBezTo>
                  <a:lnTo>
                    <a:pt x="8186" y="9326"/>
                  </a:lnTo>
                  <a:cubicBezTo>
                    <a:pt x="8265" y="9381"/>
                    <a:pt x="8358" y="9408"/>
                    <a:pt x="8451" y="9408"/>
                  </a:cubicBezTo>
                  <a:cubicBezTo>
                    <a:pt x="8576" y="9408"/>
                    <a:pt x="8701" y="9360"/>
                    <a:pt x="8792" y="9268"/>
                  </a:cubicBezTo>
                  <a:lnTo>
                    <a:pt x="9254" y="8807"/>
                  </a:lnTo>
                  <a:cubicBezTo>
                    <a:pt x="9413" y="8633"/>
                    <a:pt x="9441" y="8388"/>
                    <a:pt x="9311" y="8200"/>
                  </a:cubicBezTo>
                  <a:lnTo>
                    <a:pt x="8633" y="7175"/>
                  </a:lnTo>
                  <a:cubicBezTo>
                    <a:pt x="8792" y="6915"/>
                    <a:pt x="8907" y="6627"/>
                    <a:pt x="8994" y="6338"/>
                  </a:cubicBezTo>
                  <a:lnTo>
                    <a:pt x="10192" y="6093"/>
                  </a:lnTo>
                  <a:cubicBezTo>
                    <a:pt x="10409" y="6049"/>
                    <a:pt x="10567" y="5847"/>
                    <a:pt x="10582" y="5616"/>
                  </a:cubicBezTo>
                  <a:lnTo>
                    <a:pt x="10582" y="4967"/>
                  </a:lnTo>
                  <a:cubicBezTo>
                    <a:pt x="10567" y="4736"/>
                    <a:pt x="10409" y="4534"/>
                    <a:pt x="10192" y="4490"/>
                  </a:cubicBezTo>
                  <a:lnTo>
                    <a:pt x="8994" y="4259"/>
                  </a:lnTo>
                  <a:cubicBezTo>
                    <a:pt x="8907" y="3956"/>
                    <a:pt x="8792" y="3682"/>
                    <a:pt x="8647" y="3408"/>
                  </a:cubicBezTo>
                  <a:lnTo>
                    <a:pt x="9311" y="2397"/>
                  </a:lnTo>
                  <a:cubicBezTo>
                    <a:pt x="9441" y="2195"/>
                    <a:pt x="9413" y="1950"/>
                    <a:pt x="9254" y="1791"/>
                  </a:cubicBezTo>
                  <a:lnTo>
                    <a:pt x="8792" y="1315"/>
                  </a:lnTo>
                  <a:cubicBezTo>
                    <a:pt x="8701" y="1223"/>
                    <a:pt x="8576" y="1175"/>
                    <a:pt x="8451" y="1175"/>
                  </a:cubicBezTo>
                  <a:cubicBezTo>
                    <a:pt x="8358" y="1175"/>
                    <a:pt x="8265" y="1202"/>
                    <a:pt x="8186" y="1257"/>
                  </a:cubicBezTo>
                  <a:lnTo>
                    <a:pt x="7175" y="1935"/>
                  </a:lnTo>
                  <a:cubicBezTo>
                    <a:pt x="6901" y="1791"/>
                    <a:pt x="6612" y="1675"/>
                    <a:pt x="6323" y="1589"/>
                  </a:cubicBezTo>
                  <a:lnTo>
                    <a:pt x="6078" y="391"/>
                  </a:lnTo>
                  <a:cubicBezTo>
                    <a:pt x="6035" y="160"/>
                    <a:pt x="5847" y="1"/>
                    <a:pt x="5616" y="1"/>
                  </a:cubicBezTo>
                  <a:close/>
                </a:path>
              </a:pathLst>
            </a:custGeom>
            <a:solidFill>
              <a:srgbClr val="C2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6143480" y="2983301"/>
              <a:ext cx="142321" cy="121821"/>
            </a:xfrm>
            <a:custGeom>
              <a:rect b="b" l="l" r="r" t="t"/>
              <a:pathLst>
                <a:path extrusionOk="0" h="4647" w="5429">
                  <a:moveTo>
                    <a:pt x="3104" y="1"/>
                  </a:moveTo>
                  <a:cubicBezTo>
                    <a:pt x="1040" y="1"/>
                    <a:pt x="0" y="2498"/>
                    <a:pt x="1458" y="3956"/>
                  </a:cubicBezTo>
                  <a:cubicBezTo>
                    <a:pt x="1931" y="4433"/>
                    <a:pt x="2515" y="4647"/>
                    <a:pt x="3087" y="4647"/>
                  </a:cubicBezTo>
                  <a:cubicBezTo>
                    <a:pt x="4281" y="4647"/>
                    <a:pt x="5428" y="3720"/>
                    <a:pt x="5428" y="2325"/>
                  </a:cubicBezTo>
                  <a:cubicBezTo>
                    <a:pt x="5428" y="1040"/>
                    <a:pt x="4389" y="1"/>
                    <a:pt x="3104" y="1"/>
                  </a:cubicBezTo>
                  <a:close/>
                </a:path>
              </a:pathLst>
            </a:custGeom>
            <a:solidFill>
              <a:srgbClr val="EBED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6184349" y="3013946"/>
              <a:ext cx="70781" cy="60557"/>
            </a:xfrm>
            <a:custGeom>
              <a:rect b="b" l="l" r="r" t="t"/>
              <a:pathLst>
                <a:path extrusionOk="0" h="2310" w="2700">
                  <a:moveTo>
                    <a:pt x="1545" y="1"/>
                  </a:moveTo>
                  <a:cubicBezTo>
                    <a:pt x="520" y="1"/>
                    <a:pt x="0" y="1242"/>
                    <a:pt x="722" y="1964"/>
                  </a:cubicBezTo>
                  <a:cubicBezTo>
                    <a:pt x="961" y="2203"/>
                    <a:pt x="1253" y="2310"/>
                    <a:pt x="1539" y="2310"/>
                  </a:cubicBezTo>
                  <a:cubicBezTo>
                    <a:pt x="2134" y="2310"/>
                    <a:pt x="2700" y="1848"/>
                    <a:pt x="2700" y="1156"/>
                  </a:cubicBezTo>
                  <a:cubicBezTo>
                    <a:pt x="2700" y="506"/>
                    <a:pt x="2180" y="1"/>
                    <a:pt x="154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6268368" y="3087374"/>
              <a:ext cx="182404" cy="182797"/>
            </a:xfrm>
            <a:custGeom>
              <a:rect b="b" l="l" r="r" t="t"/>
              <a:pathLst>
                <a:path extrusionOk="0" h="6973" w="6958">
                  <a:moveTo>
                    <a:pt x="3262" y="0"/>
                  </a:moveTo>
                  <a:cubicBezTo>
                    <a:pt x="3118" y="0"/>
                    <a:pt x="2988" y="116"/>
                    <a:pt x="2945" y="260"/>
                  </a:cubicBezTo>
                  <a:lnTo>
                    <a:pt x="2801" y="1054"/>
                  </a:lnTo>
                  <a:cubicBezTo>
                    <a:pt x="2598" y="1097"/>
                    <a:pt x="2411" y="1184"/>
                    <a:pt x="2238" y="1285"/>
                  </a:cubicBezTo>
                  <a:lnTo>
                    <a:pt x="1574" y="838"/>
                  </a:lnTo>
                  <a:cubicBezTo>
                    <a:pt x="1518" y="800"/>
                    <a:pt x="1454" y="782"/>
                    <a:pt x="1392" y="782"/>
                  </a:cubicBezTo>
                  <a:cubicBezTo>
                    <a:pt x="1308" y="782"/>
                    <a:pt x="1227" y="815"/>
                    <a:pt x="1169" y="881"/>
                  </a:cubicBezTo>
                  <a:lnTo>
                    <a:pt x="866" y="1184"/>
                  </a:lnTo>
                  <a:cubicBezTo>
                    <a:pt x="765" y="1285"/>
                    <a:pt x="736" y="1458"/>
                    <a:pt x="823" y="1574"/>
                  </a:cubicBezTo>
                  <a:lnTo>
                    <a:pt x="1270" y="2252"/>
                  </a:lnTo>
                  <a:cubicBezTo>
                    <a:pt x="1169" y="2426"/>
                    <a:pt x="1097" y="2613"/>
                    <a:pt x="1039" y="2801"/>
                  </a:cubicBezTo>
                  <a:lnTo>
                    <a:pt x="260" y="2960"/>
                  </a:lnTo>
                  <a:cubicBezTo>
                    <a:pt x="101" y="2988"/>
                    <a:pt x="0" y="3118"/>
                    <a:pt x="0" y="3277"/>
                  </a:cubicBezTo>
                  <a:lnTo>
                    <a:pt x="0" y="3710"/>
                  </a:lnTo>
                  <a:cubicBezTo>
                    <a:pt x="0" y="3855"/>
                    <a:pt x="101" y="3985"/>
                    <a:pt x="260" y="4013"/>
                  </a:cubicBezTo>
                  <a:lnTo>
                    <a:pt x="1039" y="4172"/>
                  </a:lnTo>
                  <a:cubicBezTo>
                    <a:pt x="1097" y="4360"/>
                    <a:pt x="1169" y="4548"/>
                    <a:pt x="1270" y="4735"/>
                  </a:cubicBezTo>
                  <a:lnTo>
                    <a:pt x="823" y="5399"/>
                  </a:lnTo>
                  <a:cubicBezTo>
                    <a:pt x="751" y="5529"/>
                    <a:pt x="765" y="5688"/>
                    <a:pt x="866" y="5803"/>
                  </a:cubicBezTo>
                  <a:lnTo>
                    <a:pt x="1169" y="6107"/>
                  </a:lnTo>
                  <a:cubicBezTo>
                    <a:pt x="1234" y="6163"/>
                    <a:pt x="1312" y="6192"/>
                    <a:pt x="1390" y="6192"/>
                  </a:cubicBezTo>
                  <a:cubicBezTo>
                    <a:pt x="1453" y="6192"/>
                    <a:pt x="1516" y="6174"/>
                    <a:pt x="1574" y="6135"/>
                  </a:cubicBezTo>
                  <a:lnTo>
                    <a:pt x="2238" y="5702"/>
                  </a:lnTo>
                  <a:cubicBezTo>
                    <a:pt x="2411" y="5789"/>
                    <a:pt x="2598" y="5876"/>
                    <a:pt x="2801" y="5919"/>
                  </a:cubicBezTo>
                  <a:lnTo>
                    <a:pt x="2959" y="6713"/>
                  </a:lnTo>
                  <a:cubicBezTo>
                    <a:pt x="2988" y="6857"/>
                    <a:pt x="3118" y="6973"/>
                    <a:pt x="3262" y="6973"/>
                  </a:cubicBezTo>
                  <a:lnTo>
                    <a:pt x="3696" y="6973"/>
                  </a:lnTo>
                  <a:cubicBezTo>
                    <a:pt x="3840" y="6973"/>
                    <a:pt x="3970" y="6857"/>
                    <a:pt x="3999" y="6713"/>
                  </a:cubicBezTo>
                  <a:lnTo>
                    <a:pt x="4157" y="5919"/>
                  </a:lnTo>
                  <a:cubicBezTo>
                    <a:pt x="4360" y="5876"/>
                    <a:pt x="4547" y="5789"/>
                    <a:pt x="4720" y="5702"/>
                  </a:cubicBezTo>
                  <a:lnTo>
                    <a:pt x="5384" y="6135"/>
                  </a:lnTo>
                  <a:cubicBezTo>
                    <a:pt x="5442" y="6174"/>
                    <a:pt x="5505" y="6192"/>
                    <a:pt x="5568" y="6192"/>
                  </a:cubicBezTo>
                  <a:cubicBezTo>
                    <a:pt x="5646" y="6192"/>
                    <a:pt x="5724" y="6163"/>
                    <a:pt x="5789" y="6107"/>
                  </a:cubicBezTo>
                  <a:lnTo>
                    <a:pt x="6092" y="5803"/>
                  </a:lnTo>
                  <a:cubicBezTo>
                    <a:pt x="6193" y="5688"/>
                    <a:pt x="6207" y="5529"/>
                    <a:pt x="6135" y="5399"/>
                  </a:cubicBezTo>
                  <a:lnTo>
                    <a:pt x="5688" y="4735"/>
                  </a:lnTo>
                  <a:cubicBezTo>
                    <a:pt x="5789" y="4548"/>
                    <a:pt x="5861" y="4360"/>
                    <a:pt x="5919" y="4172"/>
                  </a:cubicBezTo>
                  <a:lnTo>
                    <a:pt x="6698" y="4013"/>
                  </a:lnTo>
                  <a:cubicBezTo>
                    <a:pt x="6857" y="3985"/>
                    <a:pt x="6958" y="3855"/>
                    <a:pt x="6958" y="3710"/>
                  </a:cubicBezTo>
                  <a:lnTo>
                    <a:pt x="6958" y="3277"/>
                  </a:lnTo>
                  <a:cubicBezTo>
                    <a:pt x="6958" y="3118"/>
                    <a:pt x="6857" y="2988"/>
                    <a:pt x="6698" y="2960"/>
                  </a:cubicBezTo>
                  <a:lnTo>
                    <a:pt x="5919" y="2801"/>
                  </a:lnTo>
                  <a:cubicBezTo>
                    <a:pt x="5861" y="2613"/>
                    <a:pt x="5774" y="2426"/>
                    <a:pt x="5688" y="2252"/>
                  </a:cubicBezTo>
                  <a:lnTo>
                    <a:pt x="6135" y="1574"/>
                  </a:lnTo>
                  <a:cubicBezTo>
                    <a:pt x="6207" y="1458"/>
                    <a:pt x="6193" y="1285"/>
                    <a:pt x="6092" y="1184"/>
                  </a:cubicBezTo>
                  <a:lnTo>
                    <a:pt x="5789" y="881"/>
                  </a:lnTo>
                  <a:cubicBezTo>
                    <a:pt x="5723" y="815"/>
                    <a:pt x="5643" y="782"/>
                    <a:pt x="5562" y="782"/>
                  </a:cubicBezTo>
                  <a:cubicBezTo>
                    <a:pt x="5501" y="782"/>
                    <a:pt x="5440" y="800"/>
                    <a:pt x="5384" y="838"/>
                  </a:cubicBezTo>
                  <a:lnTo>
                    <a:pt x="4720" y="1285"/>
                  </a:lnTo>
                  <a:cubicBezTo>
                    <a:pt x="4533" y="1184"/>
                    <a:pt x="4360" y="1097"/>
                    <a:pt x="4157" y="1054"/>
                  </a:cubicBezTo>
                  <a:lnTo>
                    <a:pt x="3999" y="260"/>
                  </a:lnTo>
                  <a:cubicBezTo>
                    <a:pt x="3970" y="116"/>
                    <a:pt x="3840" y="0"/>
                    <a:pt x="3696" y="0"/>
                  </a:cubicBezTo>
                  <a:close/>
                </a:path>
              </a:pathLst>
            </a:custGeom>
            <a:solidFill>
              <a:srgbClr val="95AB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6298620" y="3133172"/>
              <a:ext cx="106747" cy="91412"/>
            </a:xfrm>
            <a:custGeom>
              <a:rect b="b" l="l" r="r" t="t"/>
              <a:pathLst>
                <a:path extrusionOk="0" h="3487" w="4072">
                  <a:moveTo>
                    <a:pt x="2325" y="0"/>
                  </a:moveTo>
                  <a:cubicBezTo>
                    <a:pt x="780" y="0"/>
                    <a:pt x="1" y="1877"/>
                    <a:pt x="1098" y="2974"/>
                  </a:cubicBezTo>
                  <a:cubicBezTo>
                    <a:pt x="1453" y="3328"/>
                    <a:pt x="1889" y="3487"/>
                    <a:pt x="2317" y="3487"/>
                  </a:cubicBezTo>
                  <a:cubicBezTo>
                    <a:pt x="3212" y="3487"/>
                    <a:pt x="4072" y="2792"/>
                    <a:pt x="4072" y="1747"/>
                  </a:cubicBezTo>
                  <a:cubicBezTo>
                    <a:pt x="4057" y="780"/>
                    <a:pt x="3292" y="0"/>
                    <a:pt x="2325" y="0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6322843" y="3151706"/>
              <a:ext cx="63991" cy="54527"/>
            </a:xfrm>
            <a:custGeom>
              <a:rect b="b" l="l" r="r" t="t"/>
              <a:pathLst>
                <a:path extrusionOk="0" h="2080" w="2441">
                  <a:moveTo>
                    <a:pt x="1401" y="0"/>
                  </a:moveTo>
                  <a:cubicBezTo>
                    <a:pt x="477" y="0"/>
                    <a:pt x="1" y="1112"/>
                    <a:pt x="665" y="1776"/>
                  </a:cubicBezTo>
                  <a:cubicBezTo>
                    <a:pt x="874" y="1985"/>
                    <a:pt x="1134" y="2079"/>
                    <a:pt x="1388" y="2079"/>
                  </a:cubicBezTo>
                  <a:cubicBezTo>
                    <a:pt x="1924" y="2079"/>
                    <a:pt x="2440" y="1666"/>
                    <a:pt x="2440" y="1040"/>
                  </a:cubicBezTo>
                  <a:cubicBezTo>
                    <a:pt x="2440" y="462"/>
                    <a:pt x="1978" y="0"/>
                    <a:pt x="1401" y="0"/>
                  </a:cubicBezTo>
                  <a:close/>
                </a:path>
              </a:pathLst>
            </a:custGeom>
            <a:solidFill>
              <a:srgbClr val="95AB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7"/>
          <p:cNvSpPr txBox="1"/>
          <p:nvPr/>
        </p:nvSpPr>
        <p:spPr>
          <a:xfrm>
            <a:off x="2268900" y="251475"/>
            <a:ext cx="4606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Principios de Localidad</a:t>
            </a:r>
            <a:endParaRPr b="1"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815" name="Google Shape;8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00" y="1227200"/>
            <a:ext cx="2838072" cy="28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27"/>
          <p:cNvPicPr preferRelativeResize="0"/>
          <p:nvPr/>
        </p:nvPicPr>
        <p:blipFill rotWithShape="1">
          <a:blip r:embed="rId4">
            <a:alphaModFix/>
          </a:blip>
          <a:srcRect b="4068" l="0" r="0" t="0"/>
          <a:stretch/>
        </p:blipFill>
        <p:spPr>
          <a:xfrm>
            <a:off x="4559300" y="1295787"/>
            <a:ext cx="3332590" cy="27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27"/>
          <p:cNvSpPr txBox="1"/>
          <p:nvPr/>
        </p:nvSpPr>
        <p:spPr>
          <a:xfrm>
            <a:off x="1116988" y="880275"/>
            <a:ext cx="224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Localidad Temporal</a:t>
            </a:r>
            <a:endParaRPr sz="15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818" name="Google Shape;818;p27"/>
          <p:cNvSpPr txBox="1"/>
          <p:nvPr/>
        </p:nvSpPr>
        <p:spPr>
          <a:xfrm>
            <a:off x="5104062" y="880275"/>
            <a:ext cx="224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Localidad Espacial</a:t>
            </a:r>
            <a:endParaRPr sz="15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819" name="Google Shape;819;p27"/>
          <p:cNvSpPr txBox="1"/>
          <p:nvPr/>
        </p:nvSpPr>
        <p:spPr>
          <a:xfrm>
            <a:off x="1493250" y="4183450"/>
            <a:ext cx="615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El éxito de un administrador de caché por software depende de que tan bien su estructura interna explote la Localidad Espacial del hardware subyacente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8"/>
          <p:cNvSpPr txBox="1"/>
          <p:nvPr/>
        </p:nvSpPr>
        <p:spPr>
          <a:xfrm>
            <a:off x="3066013" y="215150"/>
            <a:ext cx="3012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BOOST FLAT MAP</a:t>
            </a:r>
            <a:endParaRPr b="1"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25" name="Google Shape;825;p28"/>
          <p:cNvSpPr txBox="1"/>
          <p:nvPr/>
        </p:nvSpPr>
        <p:spPr>
          <a:xfrm>
            <a:off x="1012950" y="843950"/>
            <a:ext cx="711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Pares clave-valor almacenados en un bloque único de memoria</a:t>
            </a:r>
            <a:endParaRPr sz="15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pic>
        <p:nvPicPr>
          <p:cNvPr id="826" name="Google Shape;826;p28"/>
          <p:cNvPicPr preferRelativeResize="0"/>
          <p:nvPr/>
        </p:nvPicPr>
        <p:blipFill rotWithShape="1">
          <a:blip r:embed="rId3">
            <a:alphaModFix/>
          </a:blip>
          <a:srcRect b="5230" l="0" r="0" t="3178"/>
          <a:stretch/>
        </p:blipFill>
        <p:spPr>
          <a:xfrm>
            <a:off x="1462100" y="1485900"/>
            <a:ext cx="6219825" cy="180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8"/>
          <p:cNvSpPr txBox="1"/>
          <p:nvPr/>
        </p:nvSpPr>
        <p:spPr>
          <a:xfrm>
            <a:off x="1012950" y="3587100"/>
            <a:ext cx="231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Localidad Extrema</a:t>
            </a:r>
            <a:endParaRPr sz="1200">
              <a:solidFill>
                <a:srgbClr val="38761D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Cada lectura carga datos vecinos en la cache L1/L2 del procesador. Altisima Eficiencia física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828" name="Google Shape;828;p28"/>
          <p:cNvSpPr txBox="1"/>
          <p:nvPr/>
        </p:nvSpPr>
        <p:spPr>
          <a:xfrm>
            <a:off x="3740350" y="3587100"/>
            <a:ext cx="192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Búsqueda Rápida</a:t>
            </a:r>
            <a:endParaRPr sz="1200">
              <a:solidFill>
                <a:srgbClr val="38761D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Algoritmo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 de 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búsqueda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 binaria predecible y eficiente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829" name="Google Shape;829;p28"/>
          <p:cNvSpPr txBox="1"/>
          <p:nvPr/>
        </p:nvSpPr>
        <p:spPr>
          <a:xfrm>
            <a:off x="6069350" y="3587100"/>
            <a:ext cx="2354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Costo de Mutacion</a:t>
            </a:r>
            <a:endParaRPr sz="1200">
              <a:solidFill>
                <a:srgbClr val="990000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Las inserciones y eliminaciones exigen el desplazamiento físico y masivo de arreglos en memoria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9"/>
          <p:cNvSpPr txBox="1"/>
          <p:nvPr/>
        </p:nvSpPr>
        <p:spPr>
          <a:xfrm>
            <a:off x="2268900" y="251475"/>
            <a:ext cx="4606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GOOGLE B-TREE</a:t>
            </a:r>
            <a:endParaRPr b="1"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835" name="Google Shape;8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109663"/>
            <a:ext cx="686752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29"/>
          <p:cNvSpPr txBox="1"/>
          <p:nvPr/>
        </p:nvSpPr>
        <p:spPr>
          <a:xfrm>
            <a:off x="468600" y="3543300"/>
            <a:ext cx="275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Estabilidad de </a:t>
            </a:r>
            <a:r>
              <a:rPr lang="en" sz="1200">
                <a:solidFill>
                  <a:srgbClr val="38761D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Mutación</a:t>
            </a:r>
            <a:endParaRPr sz="1200">
              <a:solidFill>
                <a:srgbClr val="38761D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Inserciones O(Log n) consistentes. Las divisiones de nodos (splits) evitan desplazamientos masivos de memoria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837" name="Google Shape;837;p29"/>
          <p:cNvSpPr txBox="1"/>
          <p:nvPr/>
        </p:nvSpPr>
        <p:spPr>
          <a:xfrm>
            <a:off x="3219900" y="3543300"/>
            <a:ext cx="31203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Escalabilidad</a:t>
            </a:r>
            <a:endParaRPr sz="1200">
              <a:solidFill>
                <a:srgbClr val="38761D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Mantiene el rendimiento 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algorítmico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 predecible en conjuntos de datos gigantescos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838" name="Google Shape;838;p29"/>
          <p:cNvSpPr txBox="1"/>
          <p:nvPr/>
        </p:nvSpPr>
        <p:spPr>
          <a:xfrm>
            <a:off x="6203025" y="3514050"/>
            <a:ext cx="27513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Penalización de hardware</a:t>
            </a:r>
            <a:endParaRPr sz="1200">
              <a:solidFill>
                <a:srgbClr val="990000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Alta 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sobrecarga</a:t>
            </a:r>
            <a:r>
              <a:rPr lang="en" sz="12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 por saltos de punteros. Destruye la localidad espacial al dispersar datos físicamente</a:t>
            </a:r>
            <a:endParaRPr sz="12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